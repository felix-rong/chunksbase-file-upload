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6" r:id="rId9"/>
    <p:sldId id="265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7DA0"/>
    <a:srgbClr val="F8FAFC"/>
    <a:srgbClr val="F1F5F9"/>
    <a:srgbClr val="1E2A3E"/>
    <a:srgbClr val="4D7493"/>
    <a:srgbClr val="E3E7EB"/>
    <a:srgbClr val="0F4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FCF57-3775-4532-B3F1-360C1C2744B3}" v="297" dt="2026-05-11T15:20:25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6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33" y="62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FD25-427D-4EAB-BA34-46CEEBC88D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F7329-3E10-4D14-BEF3-62A356ADC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31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F7329-3E10-4D14-BEF3-62A356ADC5A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13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3519-9DCD-F16E-37B7-81709413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359BD-1EEF-1769-3F39-99934BBF2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150C52-28BA-63A9-6F59-118BDD1CE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92D0B4-E576-59D6-A083-CB9E1BD21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F7329-3E10-4D14-BEF3-62A356ADC5A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36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8F664-8171-0324-9B4E-4E448DE40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F85597-EDF7-8011-40BA-1E1A602D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2C990-9ED4-5007-1502-38F19EEF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6E773-4F16-E7D0-B317-92E9F17B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F0D45-772F-AF95-AC9E-1B438407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76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18F41-7C3F-5E28-20CC-47F0BFD8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00FA7-A4AC-F6B9-83E4-D6549BBE7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CA5D66-0366-BC1A-6329-3C525150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0837E-D780-2515-3A73-73DC57EC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8C65BB-D60A-8EA8-31FD-816927C7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8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AF7E8-D468-C32B-023F-BC4FC13E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2AD577-009F-AE23-D523-D507AC4A4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41146-CB64-F980-CC0E-D4789411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0F291E-FD83-C2AF-6956-63DAF249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6071F-29DC-1499-719F-8B2BF874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10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1B757-AC1A-D389-572C-8D9B2078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82AB9-7603-D711-6ED2-D55840349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D4F570-7074-F52E-D14C-B188EC85E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946A0E-00E0-219C-5A33-2E35584D0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845A89-E818-67DC-1948-D09A84D7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732EC6-E4CD-5D55-E7DC-A9CF3BD7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20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E3180-E499-188D-B74E-EF698935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151196-82E8-41B4-B9A3-DE72DE38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603816-E7CE-4711-4224-A5E3BB831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10CD7E-173D-B65A-E936-20508910A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32F101-C33E-1E11-AEFE-165EE4FE0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6B44E5-C440-330A-19F1-CE36534C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A0B6EF-E1A3-CE1B-C722-DA9FE9F0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F28A8E-EF5D-3B05-F6F5-BBF7B0C2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28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3498E-36C3-09A7-43E7-35225347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9DCFF4-10EA-18CB-5186-9CD0B7FE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41069A-1904-124B-9866-4117BABC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D9BB54-6F92-F540-0380-26791344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5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DABD2B-BD4E-2C0F-3D7A-619DA8A3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B73893-C057-917F-6C27-AB9EA9C7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8AC4D-6151-F298-A529-7AEDE61B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20601-22DC-4F8B-C3D6-0C4445AA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BD8F48-E1E5-7ABE-44FE-B121A8026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DBEFA-C309-FC36-C555-107AEA604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AA4E38-F761-33CB-775F-E367570C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CD9F90-FFD9-FA35-FB46-BA11744C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108CD3-346E-3727-9004-C5F6F309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1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05DF4-62C8-75CC-5245-EAF69903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3ED33-2983-0F52-7CC8-E711D1B2D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7DD7C-DA4E-9180-E99F-15D129651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D5A872-CCCE-2A28-D728-14A51FC5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6DBB1C-B85B-0E36-0131-3B3AE13F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DB2205-A4E7-792C-1C0F-12802730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7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DF86F-7AD4-671D-68E9-3387AD71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6A0488-2488-2022-8DAA-B984E37CB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CCE6F-84C9-87DC-195F-928FA8D9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1C257D-25F7-A201-DC3B-0E28B0B4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C4F06-4DE4-C31D-16F9-98E299DF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2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9BD053-A76F-D5A7-2D12-79AD32A9B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B83D1E-CA6B-4BC9-06B2-BC4FD9506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D3E955-BB8A-7303-8EA1-F9342B21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287E6-B2A2-668C-747E-E9AC1F11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A437A-3329-AA0A-7F88-87265408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4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C8ADD6-B1F3-F7C4-4B9B-9EDEB450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0D1037-DA5C-9B02-62BB-A8C1B1C9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714A7-05B4-5180-9182-ECC59CF0D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B701-4B12-420C-A934-91D18A95C07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23082-BA9D-2455-62C3-663BDFA13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B8F58-BB48-DD12-EE3E-C2791AF8E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9DE0-E3BC-4C62-A8A8-CBD76A781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5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6C335-C083-5C9C-A099-A59493B86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913" y="1122363"/>
            <a:ext cx="10962042" cy="2387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Multipart File Upload Service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227AA-D81E-1F58-93D9-B99875C57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4D749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Wiederaufnahmefähiger</a:t>
            </a:r>
            <a:r>
              <a:rPr lang="en-US" altLang="zh-CN" sz="3200" dirty="0">
                <a:solidFill>
                  <a:srgbClr val="4D749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chunk-</a:t>
            </a:r>
            <a:r>
              <a:rPr lang="en-US" altLang="zh-CN" sz="3200" dirty="0" err="1">
                <a:solidFill>
                  <a:srgbClr val="4D749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basierter</a:t>
            </a:r>
            <a:r>
              <a:rPr lang="en-US" altLang="zh-CN" sz="3200" dirty="0">
                <a:solidFill>
                  <a:srgbClr val="4D749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Upload</a:t>
            </a:r>
            <a:endParaRPr lang="zh-CN" altLang="en-US" sz="3200" dirty="0">
              <a:solidFill>
                <a:srgbClr val="4D749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D033F8-A45B-7DEB-BDFB-4130A3BC3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485" y="1292576"/>
            <a:ext cx="1553030" cy="10235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EE08C0-AE03-6A45-32D8-83486C63A7AA}"/>
              </a:ext>
            </a:extLst>
          </p:cNvPr>
          <p:cNvSpPr txBox="1"/>
          <p:nvPr/>
        </p:nvSpPr>
        <p:spPr>
          <a:xfrm>
            <a:off x="3683869" y="4624401"/>
            <a:ext cx="4768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Liyu Wu | Kurs: Web</a:t>
            </a:r>
            <a:r>
              <a:rPr lang="de-AT" altLang="zh-CN" dirty="0">
                <a:solidFill>
                  <a:srgbClr val="000000"/>
                </a:solidFill>
                <a:latin typeface="Segoe UI" panose="020B0502040204020203" pitchFamily="34" charset="0"/>
              </a:rPr>
              <a:t> Service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 pitchFamily="34" charset="0"/>
              </a:rPr>
              <a:t>Development</a:t>
            </a:r>
            <a:endParaRPr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B95C573-5A0C-3B0A-EC1E-E724585E9D48}"/>
              </a:ext>
            </a:extLst>
          </p:cNvPr>
          <p:cNvGrpSpPr/>
          <p:nvPr/>
        </p:nvGrpSpPr>
        <p:grpSpPr>
          <a:xfrm>
            <a:off x="2842060" y="5735637"/>
            <a:ext cx="1741091" cy="378069"/>
            <a:chOff x="2842060" y="5735637"/>
            <a:chExt cx="1741091" cy="37806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BE6CEAF-0E19-2596-81D5-68479EF0AC85}"/>
                </a:ext>
              </a:extLst>
            </p:cNvPr>
            <p:cNvSpPr/>
            <p:nvPr/>
          </p:nvSpPr>
          <p:spPr>
            <a:xfrm>
              <a:off x="2842060" y="5735637"/>
              <a:ext cx="1741091" cy="378069"/>
            </a:xfrm>
            <a:prstGeom prst="roundRect">
              <a:avLst>
                <a:gd name="adj" fmla="val 50000"/>
              </a:avLst>
            </a:prstGeom>
            <a:solidFill>
              <a:srgbClr val="0F4C5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600" dirty="0" err="1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ñññ</a:t>
              </a:r>
              <a:r>
                <a:rPr lang="en-US" altLang="zh-CN" sz="1600" dirty="0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n-US" altLang="zh-C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Resumable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725337A-202C-6AF0-908A-5B9179D20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8444" y="5814482"/>
              <a:ext cx="299224" cy="299224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A53A7A-BAC4-0C7D-3DBC-B95A0C89646E}"/>
              </a:ext>
            </a:extLst>
          </p:cNvPr>
          <p:cNvGrpSpPr/>
          <p:nvPr/>
        </p:nvGrpSpPr>
        <p:grpSpPr>
          <a:xfrm>
            <a:off x="4770043" y="5735637"/>
            <a:ext cx="2545157" cy="378069"/>
            <a:chOff x="4770043" y="5735637"/>
            <a:chExt cx="2545157" cy="37806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C7D1536-2E09-2F20-5BA4-FF07A20315C9}"/>
                </a:ext>
              </a:extLst>
            </p:cNvPr>
            <p:cNvSpPr/>
            <p:nvPr/>
          </p:nvSpPr>
          <p:spPr>
            <a:xfrm>
              <a:off x="4770043" y="5735637"/>
              <a:ext cx="2545157" cy="378069"/>
            </a:xfrm>
            <a:prstGeom prst="roundRect">
              <a:avLst>
                <a:gd name="adj" fmla="val 50000"/>
              </a:avLst>
            </a:prstGeom>
            <a:solidFill>
              <a:srgbClr val="0F4C5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   </a:t>
              </a:r>
              <a:r>
                <a:rPr lang="en-US" altLang="zh-CN" sz="1600" dirty="0" err="1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ñññ</a:t>
              </a:r>
              <a:r>
                <a:rPr lang="en-US" altLang="zh-C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Checksum-Validierung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BA04CDA6-8975-6439-612C-8999736D1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0956" y="5735637"/>
              <a:ext cx="343252" cy="343252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8CD2FFF-C8CF-EBA7-548F-FF873788F2CB}"/>
              </a:ext>
            </a:extLst>
          </p:cNvPr>
          <p:cNvGrpSpPr/>
          <p:nvPr/>
        </p:nvGrpSpPr>
        <p:grpSpPr>
          <a:xfrm>
            <a:off x="7502092" y="5735637"/>
            <a:ext cx="2545157" cy="378069"/>
            <a:chOff x="8312414" y="5457147"/>
            <a:chExt cx="2545157" cy="378069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3B4ADD2-F63F-BC19-E8F2-1B0ADE6943EE}"/>
                </a:ext>
              </a:extLst>
            </p:cNvPr>
            <p:cNvSpPr/>
            <p:nvPr/>
          </p:nvSpPr>
          <p:spPr>
            <a:xfrm>
              <a:off x="8312414" y="5457147"/>
              <a:ext cx="2545157" cy="378069"/>
            </a:xfrm>
            <a:prstGeom prst="roundRect">
              <a:avLst>
                <a:gd name="adj" fmla="val 50000"/>
              </a:avLst>
            </a:prstGeom>
            <a:solidFill>
              <a:srgbClr val="0F4C5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600" dirty="0" err="1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ñññ</a:t>
              </a:r>
              <a:r>
                <a:rPr lang="en-US" altLang="zh-CN" sz="1600" dirty="0">
                  <a:latin typeface="Font Awesome 7 Brands" panose="02000503000000000000" pitchFamily="50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n-US" altLang="zh-C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Saubere</a:t>
              </a:r>
              <a:r>
                <a:rPr lang="en-US" altLang="zh-C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Architektur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C86EE4C8-B701-BB88-9C6B-E42AF5A26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2496" y="5462917"/>
              <a:ext cx="343252" cy="343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153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543D4-E34D-E0BE-A74B-CD89EF31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de-AT" altLang="zh-CN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Warum diese Art von Service?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6369197-3B66-EAA2-1F7C-7C4611BD9E67}"/>
              </a:ext>
            </a:extLst>
          </p:cNvPr>
          <p:cNvSpPr/>
          <p:nvPr/>
        </p:nvSpPr>
        <p:spPr>
          <a:xfrm>
            <a:off x="347472" y="1657923"/>
            <a:ext cx="5586984" cy="3346704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4D7493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0890DCF-0A99-F37F-C1DB-F951435EE832}"/>
              </a:ext>
            </a:extLst>
          </p:cNvPr>
          <p:cNvSpPr/>
          <p:nvPr/>
        </p:nvSpPr>
        <p:spPr>
          <a:xfrm>
            <a:off x="6257546" y="1657923"/>
            <a:ext cx="5586984" cy="3346704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FB6839E-6AFB-05BC-4EEA-544511C404C9}"/>
              </a:ext>
            </a:extLst>
          </p:cNvPr>
          <p:cNvSpPr/>
          <p:nvPr/>
        </p:nvSpPr>
        <p:spPr>
          <a:xfrm>
            <a:off x="499871" y="5665670"/>
            <a:ext cx="11142231" cy="769482"/>
          </a:xfrm>
          <a:prstGeom prst="roundRect">
            <a:avLst>
              <a:gd name="adj" fmla="val 6831"/>
            </a:avLst>
          </a:prstGeom>
          <a:solidFill>
            <a:srgbClr val="F1F5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B9C922-E41F-0086-CDB4-762472C9D493}"/>
              </a:ext>
            </a:extLst>
          </p:cNvPr>
          <p:cNvSpPr txBox="1"/>
          <p:nvPr/>
        </p:nvSpPr>
        <p:spPr>
          <a:xfrm>
            <a:off x="418853" y="2362971"/>
            <a:ext cx="51419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2400" b="1" i="0" dirty="0" err="1">
                <a:solidFill>
                  <a:srgbClr val="2C3E66"/>
                </a:solidFill>
                <a:effectLst/>
                <a:latin typeface="Segoe UI" panose="020B0502040204020203" pitchFamily="34" charset="0"/>
              </a:rPr>
              <a:t>Typische</a:t>
            </a:r>
            <a:r>
              <a:rPr lang="en-US" altLang="zh-CN" sz="2400" b="1" i="0" dirty="0">
                <a:solidFill>
                  <a:srgbClr val="2C3E6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400" b="1" i="0" dirty="0" err="1">
                <a:solidFill>
                  <a:srgbClr val="2C3E66"/>
                </a:solidFill>
                <a:effectLst/>
                <a:latin typeface="Segoe UI" panose="020B0502040204020203" pitchFamily="34" charset="0"/>
              </a:rPr>
              <a:t>Szenarien</a:t>
            </a:r>
            <a:endParaRPr lang="en-US" altLang="zh-CN" sz="2400" b="1" i="0" dirty="0">
              <a:solidFill>
                <a:srgbClr val="2C3E66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Video-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Plattformen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(GB-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Dateien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Cloud-Backups &amp; Archive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Machine Learning Datasets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Mobile Uploads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schwankender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Verbindung</a:t>
            </a:r>
            <a:endParaRPr lang="en-US" altLang="zh-CN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35BA58-746A-635F-985E-7A41C5DCA7C9}"/>
              </a:ext>
            </a:extLst>
          </p:cNvPr>
          <p:cNvSpPr txBox="1"/>
          <p:nvPr/>
        </p:nvSpPr>
        <p:spPr>
          <a:xfrm>
            <a:off x="6257546" y="2362971"/>
            <a:ext cx="53261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de-AT" altLang="zh-CN" sz="2400" b="1" i="0" dirty="0">
                <a:solidFill>
                  <a:srgbClr val="2C3E66"/>
                </a:solidFill>
                <a:effectLst/>
                <a:latin typeface="Segoe UI" panose="020B0502040204020203" pitchFamily="34" charset="0"/>
              </a:rPr>
              <a:t>Herausforderungen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AT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Netzwerkabbruch → komplette Neuladung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AT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Keine Fortschrittsinformationen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AT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Datenintegrität ungewiss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AT" altLang="zh-C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Server-Ressourcen werden blockiert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146BD5E7-0F2D-FF05-6EA6-B34A1695E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909" y="1657923"/>
            <a:ext cx="676114" cy="67611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9FB001D-59AC-7394-8072-B4C98EA93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16" y="1686859"/>
            <a:ext cx="691773" cy="64717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D9C0ECF3-6082-9114-A858-D1F4C7E54DE0}"/>
              </a:ext>
            </a:extLst>
          </p:cNvPr>
          <p:cNvSpPr txBox="1"/>
          <p:nvPr/>
        </p:nvSpPr>
        <p:spPr>
          <a:xfrm>
            <a:off x="1089289" y="5850356"/>
            <a:ext cx="10533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de-AT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Lösung:</a:t>
            </a:r>
            <a:r>
              <a:rPr lang="de-AT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Aufteilung in Chunks + Offset-Management + </a:t>
            </a:r>
            <a:r>
              <a:rPr lang="de-AT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Resumption</a:t>
            </a:r>
            <a:endParaRPr lang="zh-CN" altLang="en-US" sz="20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8AC5DF1-13C0-7622-6810-909392007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65" y="193122"/>
            <a:ext cx="828824" cy="8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8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2C20F-5115-565D-7177-5B3F1810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09A4C-C828-E36F-0FE6-44D5DB69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0" y="25919"/>
            <a:ext cx="10515600" cy="1235075"/>
          </a:xfrm>
        </p:spPr>
        <p:txBody>
          <a:bodyPr>
            <a:normAutofit/>
          </a:bodyPr>
          <a:lstStyle/>
          <a:p>
            <a:r>
              <a:rPr lang="de-AT" altLang="zh-CN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Genau diese 4 APIs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895F3C2-C3A2-BEFC-2291-9EF79BB18C1F}"/>
              </a:ext>
            </a:extLst>
          </p:cNvPr>
          <p:cNvSpPr/>
          <p:nvPr/>
        </p:nvSpPr>
        <p:spPr>
          <a:xfrm>
            <a:off x="6257546" y="1242706"/>
            <a:ext cx="5586984" cy="4187902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A14C8B6-B578-6EC2-7F92-32A681E06C72}"/>
              </a:ext>
            </a:extLst>
          </p:cNvPr>
          <p:cNvSpPr/>
          <p:nvPr/>
        </p:nvSpPr>
        <p:spPr>
          <a:xfrm>
            <a:off x="499871" y="5665670"/>
            <a:ext cx="11142231" cy="769482"/>
          </a:xfrm>
          <a:prstGeom prst="roundRect">
            <a:avLst>
              <a:gd name="adj" fmla="val 6831"/>
            </a:avLst>
          </a:prstGeom>
          <a:solidFill>
            <a:srgbClr val="F1F5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78C17A7-E77B-CCAC-64F3-D20471EDFCAC}"/>
              </a:ext>
            </a:extLst>
          </p:cNvPr>
          <p:cNvSpPr txBox="1"/>
          <p:nvPr/>
        </p:nvSpPr>
        <p:spPr>
          <a:xfrm>
            <a:off x="6387966" y="1427392"/>
            <a:ext cx="532614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Design-</a:t>
            </a:r>
            <a:r>
              <a:rPr lang="en-US" altLang="zh-CN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Vorteile</a:t>
            </a:r>
            <a:endParaRPr lang="en-US" altLang="zh-C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Zustandsbehaftete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Ressource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(Offset,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Länge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) –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aber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API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ist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stateless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durch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Einfache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Wiederaufnahme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: HEAD → Offset → PATCH ab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diesem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Integritätsprüfung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via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optionalem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Checksum-Header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Skalierbar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– Server muss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keine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Session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speichern</a:t>
            </a:r>
            <a:endParaRPr lang="en-US" altLang="zh-C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r>
              <a:rPr lang="en-US" altLang="zh-CN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Einschränkung</a:t>
            </a:r>
            <a:endParaRPr lang="en-US" altLang="zh-C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Kein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paralleler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Upload (Upload-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Concat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geplant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) &amp;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Metadaten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In-Memory (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Verlust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bei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 err="1">
                <a:latin typeface="Segoe UI" panose="020B0502040204020203" pitchFamily="34" charset="0"/>
                <a:cs typeface="Segoe UI" panose="020B0502040204020203" pitchFamily="34" charset="0"/>
              </a:rPr>
              <a:t>Neustart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075AE7-2174-A8CD-30D1-CF5575ADFE30}"/>
              </a:ext>
            </a:extLst>
          </p:cNvPr>
          <p:cNvSpPr txBox="1"/>
          <p:nvPr/>
        </p:nvSpPr>
        <p:spPr>
          <a:xfrm>
            <a:off x="678730" y="5850356"/>
            <a:ext cx="10944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Typischer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Ablauf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POST → PATCH(offset=0) → HEAD → PATCH(offset=n) → DELETE</a:t>
            </a:r>
            <a:endParaRPr lang="zh-C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7D5F467-0762-EE1B-28DA-1012CFFCD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484615"/>
              </p:ext>
            </p:extLst>
          </p:nvPr>
        </p:nvGraphicFramePr>
        <p:xfrm>
          <a:off x="318410" y="1301191"/>
          <a:ext cx="5616045" cy="4120326"/>
        </p:xfrm>
        <a:graphic>
          <a:graphicData uri="http://schemas.openxmlformats.org/drawingml/2006/table">
            <a:tbl>
              <a:tblPr firstRow="1" bandRow="1">
                <a:effectLst>
                  <a:innerShdw blurRad="635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872015">
                  <a:extLst>
                    <a:ext uri="{9D8B030D-6E8A-4147-A177-3AD203B41FA5}">
                      <a16:colId xmlns:a16="http://schemas.microsoft.com/office/drawing/2014/main" val="754465139"/>
                    </a:ext>
                  </a:extLst>
                </a:gridCol>
                <a:gridCol w="1872015">
                  <a:extLst>
                    <a:ext uri="{9D8B030D-6E8A-4147-A177-3AD203B41FA5}">
                      <a16:colId xmlns:a16="http://schemas.microsoft.com/office/drawing/2014/main" val="2865018180"/>
                    </a:ext>
                  </a:extLst>
                </a:gridCol>
                <a:gridCol w="1872015">
                  <a:extLst>
                    <a:ext uri="{9D8B030D-6E8A-4147-A177-3AD203B41FA5}">
                      <a16:colId xmlns:a16="http://schemas.microsoft.com/office/drawing/2014/main" val="2943925272"/>
                    </a:ext>
                  </a:extLst>
                </a:gridCol>
              </a:tblGrid>
              <a:tr h="672402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Mothode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2C7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Path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2C7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Funktion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2C7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469516"/>
                  </a:ext>
                </a:extLst>
              </a:tr>
              <a:tr h="672402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uploadfiles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Ressource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erzeugen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(Upload-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Länge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Metadaten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05761"/>
                  </a:ext>
                </a:extLst>
              </a:tr>
              <a:tr h="672402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PATCH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uploadfiles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/{id}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Chunk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mit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Offset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anhängen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78410"/>
                  </a:ext>
                </a:extLst>
              </a:tr>
              <a:tr h="672402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HEAD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uploadfiles</a:t>
                      </a: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/{id}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Aktuellen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Offset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abfragen</a:t>
                      </a:r>
                      <a:endParaRPr lang="zh-CN" altLang="en-US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679651"/>
                  </a:ext>
                </a:extLst>
              </a:tr>
              <a:tr h="672402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DELETE</a:t>
                      </a:r>
                      <a:endParaRPr lang="zh-CN" alt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uploadfiles</a:t>
                      </a: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/{id}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Upload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abbrechen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bereinigen</a:t>
                      </a:r>
                      <a:endParaRPr lang="zh-CN" altLang="en-US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955423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10B81865-49FA-79CD-F606-594287AB8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35" y="338249"/>
            <a:ext cx="718789" cy="71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D217-18C4-5840-3BAF-B201C221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F1799-C351-3178-4B41-0E52F280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Layered Architecture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9BEA201-8A7A-9986-CDD5-3FF2DFA3F915}"/>
              </a:ext>
            </a:extLst>
          </p:cNvPr>
          <p:cNvSpPr/>
          <p:nvPr/>
        </p:nvSpPr>
        <p:spPr>
          <a:xfrm>
            <a:off x="347472" y="1257390"/>
            <a:ext cx="5586984" cy="5006250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4D7493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A9E3486-9580-8790-FFD3-E76B72F48C16}"/>
              </a:ext>
            </a:extLst>
          </p:cNvPr>
          <p:cNvSpPr/>
          <p:nvPr/>
        </p:nvSpPr>
        <p:spPr>
          <a:xfrm>
            <a:off x="6257546" y="1257390"/>
            <a:ext cx="5586984" cy="5006250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6A58C4-8E2B-9069-E6A0-19816D6B0758}"/>
              </a:ext>
            </a:extLst>
          </p:cNvPr>
          <p:cNvSpPr txBox="1"/>
          <p:nvPr/>
        </p:nvSpPr>
        <p:spPr>
          <a:xfrm>
            <a:off x="499872" y="4954500"/>
            <a:ext cx="5141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Trennung der Verantwortlichkeiten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– jede Ebene macht nur eine Sache.</a:t>
            </a:r>
            <a:endParaRPr lang="en-US" altLang="zh-CN" sz="3200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A3363B-AC6E-3949-EEE4-6E924675C690}"/>
              </a:ext>
            </a:extLst>
          </p:cNvPr>
          <p:cNvSpPr txBox="1"/>
          <p:nvPr/>
        </p:nvSpPr>
        <p:spPr>
          <a:xfrm>
            <a:off x="6172200" y="1599665"/>
            <a:ext cx="551992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Vorteile im Projekt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Testbarkeit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– jede Schicht </a:t>
            </a:r>
            <a:r>
              <a:rPr lang="de-AT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mockbar</a:t>
            </a:r>
            <a:endParaRPr lang="de-AT" altLang="zh-C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Wartbarkeit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– Businesslogik ändert sich unabhängig von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Erweiterbarkeit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– Austausch von metadata.js (</a:t>
            </a:r>
            <a:r>
              <a:rPr lang="de-AT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→ DB) ohne Änderung der Geschäftslogik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Wiederverwendbarkeit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– gleiche Businesslogik </a:t>
            </a:r>
            <a:r>
              <a:rPr lang="de-AT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fürREST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de-AT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GraphQL</a:t>
            </a:r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/gRPC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6417D94-3255-E93F-97DD-8335B886D052}"/>
              </a:ext>
            </a:extLst>
          </p:cNvPr>
          <p:cNvSpPr/>
          <p:nvPr/>
        </p:nvSpPr>
        <p:spPr>
          <a:xfrm>
            <a:off x="499872" y="1409789"/>
            <a:ext cx="5224272" cy="3454819"/>
          </a:xfrm>
          <a:prstGeom prst="roundRect">
            <a:avLst>
              <a:gd name="adj" fmla="val 6831"/>
            </a:avLst>
          </a:prstGeom>
          <a:solidFill>
            <a:srgbClr val="1E2A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4D7493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101B3B-DD4C-F238-0D4E-BB8ED89854F1}"/>
              </a:ext>
            </a:extLst>
          </p:cNvPr>
          <p:cNvSpPr txBox="1"/>
          <p:nvPr/>
        </p:nvSpPr>
        <p:spPr>
          <a:xfrm>
            <a:off x="662975" y="2286455"/>
            <a:ext cx="3221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HTTP-</a:t>
            </a:r>
            <a:r>
              <a:rPr lang="en-US" altLang="zh-CN" sz="2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Schicht</a:t>
            </a:r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(controller.js)</a:t>
            </a:r>
            <a:endParaRPr lang="zh-CN" altLang="en-US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A3B886-C051-5B9E-2B23-EF73415973FB}"/>
              </a:ext>
            </a:extLst>
          </p:cNvPr>
          <p:cNvSpPr txBox="1"/>
          <p:nvPr/>
        </p:nvSpPr>
        <p:spPr>
          <a:xfrm>
            <a:off x="662975" y="1449751"/>
            <a:ext cx="3318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ROUTING-Schicht (router.js)</a:t>
            </a:r>
            <a:endParaRPr lang="zh-CN" altLang="en-US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5D5662-C75F-DDDE-93F6-E43393042C68}"/>
              </a:ext>
            </a:extLst>
          </p:cNvPr>
          <p:cNvSpPr txBox="1"/>
          <p:nvPr/>
        </p:nvSpPr>
        <p:spPr>
          <a:xfrm>
            <a:off x="662975" y="3123159"/>
            <a:ext cx="3950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Bussiness</a:t>
            </a:r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Logic (uploadservice.js)</a:t>
            </a:r>
            <a:endParaRPr lang="zh-CN" altLang="en-US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4AF05-74D4-582D-2620-9D6385227B04}"/>
              </a:ext>
            </a:extLst>
          </p:cNvPr>
          <p:cNvSpPr txBox="1"/>
          <p:nvPr/>
        </p:nvSpPr>
        <p:spPr>
          <a:xfrm>
            <a:off x="662975" y="3959863"/>
            <a:ext cx="4841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Storageschicht</a:t>
            </a:r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fileStore,js</a:t>
            </a:r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metadata,js</a:t>
            </a:r>
            <a:r>
              <a:rPr lang="en-US" altLang="zh-CN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checksum.js)</a:t>
            </a:r>
            <a:endParaRPr lang="zh-CN" altLang="en-US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箭头: 虚尾 12">
            <a:extLst>
              <a:ext uri="{FF2B5EF4-FFF2-40B4-BE49-F238E27FC236}">
                <a16:creationId xmlns:a16="http://schemas.microsoft.com/office/drawing/2014/main" id="{12F31E78-56C7-95C3-E354-61EE64A8D5C5}"/>
              </a:ext>
            </a:extLst>
          </p:cNvPr>
          <p:cNvSpPr/>
          <p:nvPr/>
        </p:nvSpPr>
        <p:spPr>
          <a:xfrm rot="5400000">
            <a:off x="1511050" y="1943034"/>
            <a:ext cx="465433" cy="303885"/>
          </a:xfrm>
          <a:prstGeom prst="stripedRightArrow">
            <a:avLst/>
          </a:prstGeom>
          <a:solidFill>
            <a:srgbClr val="F8FA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虚尾 13">
            <a:extLst>
              <a:ext uri="{FF2B5EF4-FFF2-40B4-BE49-F238E27FC236}">
                <a16:creationId xmlns:a16="http://schemas.microsoft.com/office/drawing/2014/main" id="{C3198108-D96F-9197-17E4-1369DCF48895}"/>
              </a:ext>
            </a:extLst>
          </p:cNvPr>
          <p:cNvSpPr/>
          <p:nvPr/>
        </p:nvSpPr>
        <p:spPr>
          <a:xfrm rot="5400000">
            <a:off x="1511050" y="2786347"/>
            <a:ext cx="465433" cy="303885"/>
          </a:xfrm>
          <a:prstGeom prst="stripedRightArrow">
            <a:avLst/>
          </a:prstGeom>
          <a:solidFill>
            <a:srgbClr val="F8FA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虚尾 14">
            <a:extLst>
              <a:ext uri="{FF2B5EF4-FFF2-40B4-BE49-F238E27FC236}">
                <a16:creationId xmlns:a16="http://schemas.microsoft.com/office/drawing/2014/main" id="{1906ADB9-226A-8D52-4F5E-C8A1F0B04547}"/>
              </a:ext>
            </a:extLst>
          </p:cNvPr>
          <p:cNvSpPr/>
          <p:nvPr/>
        </p:nvSpPr>
        <p:spPr>
          <a:xfrm rot="5400000">
            <a:off x="1511050" y="3654292"/>
            <a:ext cx="465433" cy="303885"/>
          </a:xfrm>
          <a:prstGeom prst="stripedRightArrow">
            <a:avLst/>
          </a:prstGeom>
          <a:solidFill>
            <a:srgbClr val="F8FA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9E6502-3094-46C4-7D8D-0850B7CE29B8}"/>
              </a:ext>
            </a:extLst>
          </p:cNvPr>
          <p:cNvSpPr txBox="1"/>
          <p:nvPr/>
        </p:nvSpPr>
        <p:spPr>
          <a:xfrm>
            <a:off x="347472" y="7091516"/>
            <a:ext cx="10126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1600" b="0" i="0" dirty="0">
                <a:solidFill>
                  <a:srgbClr val="5E6F8D"/>
                </a:solidFill>
                <a:effectLst/>
                <a:latin typeface="Segoe UI" panose="020B0502040204020203" pitchFamily="34" charset="0"/>
              </a:rPr>
              <a:t> Beispiel: Aktuell speichert </a:t>
            </a:r>
            <a:r>
              <a:rPr lang="de-AT" altLang="zh-CN" sz="1600" b="0" i="0" dirty="0">
                <a:solidFill>
                  <a:srgbClr val="5E6F8D"/>
                </a:solidFill>
                <a:effectLst/>
                <a:latin typeface="Courier New" panose="02070309020205020404" pitchFamily="49" charset="0"/>
              </a:rPr>
              <a:t>metadata.js</a:t>
            </a:r>
            <a:r>
              <a:rPr lang="de-AT" altLang="zh-CN" sz="1600" b="0" i="0" dirty="0">
                <a:solidFill>
                  <a:srgbClr val="5E6F8D"/>
                </a:solidFill>
                <a:effectLst/>
                <a:latin typeface="Segoe UI" panose="020B0502040204020203" pitchFamily="34" charset="0"/>
              </a:rPr>
              <a:t> in einer </a:t>
            </a:r>
            <a:r>
              <a:rPr lang="de-AT" altLang="zh-CN" sz="1600" b="0" i="0" dirty="0" err="1">
                <a:solidFill>
                  <a:srgbClr val="5E6F8D"/>
                </a:solidFill>
                <a:effectLst/>
                <a:latin typeface="Segoe UI" panose="020B0502040204020203" pitchFamily="34" charset="0"/>
              </a:rPr>
              <a:t>Map</a:t>
            </a:r>
            <a:r>
              <a:rPr lang="de-AT" altLang="zh-CN" sz="1600" b="0" i="0" dirty="0">
                <a:solidFill>
                  <a:srgbClr val="5E6F8D"/>
                </a:solidFill>
                <a:effectLst/>
                <a:latin typeface="Segoe UI" panose="020B0502040204020203" pitchFamily="34" charset="0"/>
              </a:rPr>
              <a:t>. Umstellung auf PostgreSQL erfordert nur eine neue Implementierung des gleichen Interfaces.</a:t>
            </a:r>
            <a:endParaRPr lang="zh-CN" altLang="en-US" sz="16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DDB99EF-41A0-334A-2A06-F980382E2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353289"/>
            <a:ext cx="642562" cy="6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5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8FE47-1897-EAFF-BF92-1B4D2E4A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8DEB3-4D76-DCB5-0697-3FF61A98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    Project Structure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7D044E-D071-9B87-D98B-E5C6BC0E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53" y="967777"/>
            <a:ext cx="10440305" cy="58679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F14443-692D-FDE7-A55F-DE40165C9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248120"/>
            <a:ext cx="619981" cy="61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3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A597-BBCA-6A4F-12FD-E894AA7F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32BD5-4BBC-D2FE-14B8-29653A36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0" y="25919"/>
            <a:ext cx="11844530" cy="1235075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   Technology-Stack –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Entscheidungen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Nutzen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F499D5F-AB77-8BA3-C84A-ED10587D54C2}"/>
              </a:ext>
            </a:extLst>
          </p:cNvPr>
          <p:cNvSpPr/>
          <p:nvPr/>
        </p:nvSpPr>
        <p:spPr>
          <a:xfrm>
            <a:off x="318410" y="5665670"/>
            <a:ext cx="11557216" cy="1001348"/>
          </a:xfrm>
          <a:prstGeom prst="roundRect">
            <a:avLst>
              <a:gd name="adj" fmla="val 6831"/>
            </a:avLst>
          </a:prstGeom>
          <a:solidFill>
            <a:srgbClr val="F1F5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FE7BF82-77A5-25FD-9B0E-FD92376E0171}"/>
              </a:ext>
            </a:extLst>
          </p:cNvPr>
          <p:cNvSpPr txBox="1"/>
          <p:nvPr/>
        </p:nvSpPr>
        <p:spPr>
          <a:xfrm>
            <a:off x="486137" y="5850356"/>
            <a:ext cx="11215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dirty="0"/>
              <a:t> </a:t>
            </a:r>
            <a:r>
              <a:rPr lang="de-AT" altLang="zh-CN" b="1" dirty="0"/>
              <a:t>Praktisches Beispiel:</a:t>
            </a:r>
            <a:r>
              <a:rPr lang="de-AT" altLang="zh-CN" dirty="0"/>
              <a:t> </a:t>
            </a:r>
            <a:r>
              <a:rPr lang="de-AT" altLang="zh-CN" dirty="0" err="1"/>
              <a:t>fileStore.writeChunk</a:t>
            </a:r>
            <a:r>
              <a:rPr lang="de-AT" altLang="zh-CN" dirty="0"/>
              <a:t>() nutzt </a:t>
            </a:r>
            <a:r>
              <a:rPr lang="de-AT" altLang="zh-CN" dirty="0" err="1"/>
              <a:t>fs.open</a:t>
            </a:r>
            <a:r>
              <a:rPr lang="de-AT" altLang="zh-CN" dirty="0"/>
              <a:t> + </a:t>
            </a:r>
            <a:r>
              <a:rPr lang="de-AT" altLang="zh-CN" dirty="0" err="1"/>
              <a:t>fs.write</a:t>
            </a:r>
            <a:r>
              <a:rPr lang="de-AT" altLang="zh-CN" dirty="0"/>
              <a:t> mit Position – speichert nur ein einziges Chunk im RAM.</a:t>
            </a:r>
            <a:endParaRPr lang="zh-C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C61670-35CF-D993-95DD-B11718521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161026"/>
              </p:ext>
            </p:extLst>
          </p:nvPr>
        </p:nvGraphicFramePr>
        <p:xfrm>
          <a:off x="318410" y="1301191"/>
          <a:ext cx="11557216" cy="4092612"/>
        </p:xfrm>
        <a:graphic>
          <a:graphicData uri="http://schemas.openxmlformats.org/drawingml/2006/table">
            <a:tbl>
              <a:tblPr firstRow="1" bandRow="1">
                <a:effectLst>
                  <a:innerShdw blurRad="635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771892">
                  <a:extLst>
                    <a:ext uri="{9D8B030D-6E8A-4147-A177-3AD203B41FA5}">
                      <a16:colId xmlns:a16="http://schemas.microsoft.com/office/drawing/2014/main" val="754465139"/>
                    </a:ext>
                  </a:extLst>
                </a:gridCol>
                <a:gridCol w="4003637">
                  <a:extLst>
                    <a:ext uri="{9D8B030D-6E8A-4147-A177-3AD203B41FA5}">
                      <a16:colId xmlns:a16="http://schemas.microsoft.com/office/drawing/2014/main" val="2865018180"/>
                    </a:ext>
                  </a:extLst>
                </a:gridCol>
                <a:gridCol w="5781687">
                  <a:extLst>
                    <a:ext uri="{9D8B030D-6E8A-4147-A177-3AD203B41FA5}">
                      <a16:colId xmlns:a16="http://schemas.microsoft.com/office/drawing/2014/main" val="2943925272"/>
                    </a:ext>
                  </a:extLst>
                </a:gridCol>
              </a:tblGrid>
              <a:tr h="682102">
                <a:tc>
                  <a:txBody>
                    <a:bodyPr/>
                    <a:lstStyle/>
                    <a:p>
                      <a:r>
                        <a:rPr lang="en-US" altLang="zh-CN" sz="2000" b="1" i="0" kern="1200" dirty="0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Technologie</a:t>
                      </a:r>
                      <a:endParaRPr lang="zh-CN" altLang="en-US" sz="20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2C7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i="0" kern="1200" dirty="0" err="1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Warum</a:t>
                      </a:r>
                      <a:r>
                        <a:rPr lang="en-US" altLang="zh-CN" sz="2000" b="1" i="0" kern="1200" dirty="0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?</a:t>
                      </a:r>
                      <a:endParaRPr lang="zh-CN" altLang="en-US" sz="20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2C7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i="0" kern="1200" dirty="0" err="1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Nutzen</a:t>
                      </a:r>
                      <a:r>
                        <a:rPr lang="en-US" altLang="zh-CN" sz="2000" b="1" i="0" kern="1200" dirty="0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en-US" altLang="zh-CN" sz="2000" b="1" i="0" kern="1200" dirty="0" err="1">
                          <a:solidFill>
                            <a:schemeClr val="lt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Limitierung</a:t>
                      </a:r>
                      <a:endParaRPr lang="zh-CN" altLang="en-US" sz="20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2C7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469516"/>
                  </a:ext>
                </a:extLst>
              </a:tr>
              <a:tr h="682102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Node.js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AT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Asynchrone I/O, ideal für Dateiströme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✅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Arbeitsspeicher-effizient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⚠️ CPU-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lastige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Tasks nicht optimal (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hier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irrelevant)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05761"/>
                  </a:ext>
                </a:extLst>
              </a:tr>
              <a:tr h="682102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Express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Leichtgewicht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Middleware-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Ökosystem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✅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Schnelle API-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Entwicklung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gute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Community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78410"/>
                  </a:ext>
                </a:extLst>
              </a:tr>
              <a:tr h="682102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Native fs Streams</a:t>
                      </a:r>
                      <a:endParaRPr lang="zh-CN" alt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write</a:t>
                      </a:r>
                      <a:r>
                        <a:rPr lang="de-AT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de-AT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read</a:t>
                      </a:r>
                      <a:r>
                        <a:rPr lang="de-AT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mit Offset ohne vollständigen Buffer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✅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Unterstützt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TB-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Dateien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minimaler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Speicherverbrauch</a:t>
                      </a:r>
                      <a:endParaRPr lang="zh-CN" altLang="en-US" sz="18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679651"/>
                  </a:ext>
                </a:extLst>
              </a:tr>
              <a:tr h="6821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Swagger UI (</a:t>
                      </a:r>
                      <a:r>
                        <a:rPr lang="en-US" sz="18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OpenAPI</a:t>
                      </a:r>
                      <a:r>
                        <a:rPr lang="en-US" sz="18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Automatische Dokumentation aus openapi.yaml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8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✅ </a:t>
                      </a:r>
                      <a:r>
                        <a:rPr lang="en-US" sz="18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Frontend/Backend synchron, interaktive Tests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955423"/>
                  </a:ext>
                </a:extLst>
              </a:tr>
              <a:tr h="6821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Postman Collection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Integrationstests mit allen Fehlercodes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✅ Deckt normale &amp; fehlerhafte Flows ab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98037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2D808E2-3B9B-F710-E274-DFB3B409D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0" y="361313"/>
            <a:ext cx="566760" cy="5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4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BE6F6-E847-8872-165E-03374CB0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4DD7C-A0BD-0918-0AB3-54894CCF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Testmethoden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Abdeckung</a:t>
            </a:r>
            <a:endParaRPr lang="en-US" altLang="zh-C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06A4EAF-0224-8FB2-53DA-B23AC184C5AA}"/>
              </a:ext>
            </a:extLst>
          </p:cNvPr>
          <p:cNvSpPr/>
          <p:nvPr/>
        </p:nvSpPr>
        <p:spPr>
          <a:xfrm>
            <a:off x="347475" y="1257391"/>
            <a:ext cx="4097203" cy="3435048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2400" dirty="0">
              <a:solidFill>
                <a:srgbClr val="4D749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7973FE-3569-1CD9-A33E-9DDA7EAE39A0}"/>
              </a:ext>
            </a:extLst>
          </p:cNvPr>
          <p:cNvSpPr/>
          <p:nvPr/>
        </p:nvSpPr>
        <p:spPr>
          <a:xfrm>
            <a:off x="4586059" y="1273657"/>
            <a:ext cx="4214276" cy="3395754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EB48E2-4BEB-6901-0580-33B3B2C4F3F4}"/>
              </a:ext>
            </a:extLst>
          </p:cNvPr>
          <p:cNvSpPr txBox="1"/>
          <p:nvPr/>
        </p:nvSpPr>
        <p:spPr>
          <a:xfrm>
            <a:off x="347473" y="1351387"/>
            <a:ext cx="43518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Prinzipien</a:t>
            </a:r>
            <a:endParaRPr lang="en-US" altLang="zh-C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Äquivalenzklassen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Grenzwerte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 (offset=0, offset=</a:t>
            </a: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Dateiende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Szenario-basiert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Erfolg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Fehlschlag</a:t>
            </a:r>
            <a:endParaRPr lang="en-US" altLang="zh-C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Integrationstests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mit</a:t>
            </a:r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 Postman + Assertions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118DB4-6F1C-03DB-8553-AE42EC0F8796}"/>
              </a:ext>
            </a:extLst>
          </p:cNvPr>
          <p:cNvSpPr txBox="1"/>
          <p:nvPr/>
        </p:nvSpPr>
        <p:spPr>
          <a:xfrm>
            <a:off x="4586059" y="1978705"/>
            <a:ext cx="42142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Fehlerinjektion</a:t>
            </a:r>
            <a:r>
              <a:rPr lang="en-US" altLang="zh-CN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</a:t>
            </a:r>
            <a:r>
              <a:rPr lang="en-US" altLang="zh-CN" sz="2000" b="1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warum</a:t>
            </a:r>
            <a:r>
              <a:rPr lang="en-US" altLang="zh-CN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altLang="zh-CN" sz="2000" b="1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wichtig</a:t>
            </a:r>
            <a:r>
              <a:rPr lang="en-US" altLang="zh-CN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❌ </a:t>
            </a:r>
            <a:r>
              <a:rPr lang="en-US" altLang="zh-CN" sz="20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Falscher</a:t>
            </a:r>
            <a:r>
              <a:rPr lang="en-US" altLang="zh-CN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Upload-Offset → 409 Conflict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❌ </a:t>
            </a:r>
            <a:r>
              <a:rPr lang="en-US" altLang="zh-CN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Ungültiger Checksum (SHA1) → 460 Invalid Checksum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❌ </a:t>
            </a:r>
            <a:r>
              <a:rPr lang="en-US" altLang="zh-CN" sz="20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Unbekannte</a:t>
            </a:r>
            <a:r>
              <a:rPr lang="en-US" altLang="zh-CN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File-ID → 404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❌ </a:t>
            </a:r>
            <a:r>
              <a:rPr lang="en-US" altLang="zh-CN" sz="20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Fehlende</a:t>
            </a:r>
            <a:r>
              <a:rPr lang="en-US" altLang="zh-CN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altLang="zh-CN" sz="20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Pflicht</a:t>
            </a:r>
            <a:r>
              <a:rPr lang="en-US" altLang="zh-CN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-Header → 400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011D6C6-396F-2821-6A76-9C42A149A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386" y="1257391"/>
            <a:ext cx="676114" cy="6761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3834917-4F4E-CF7E-DAC4-3A47855EAA2E}"/>
              </a:ext>
            </a:extLst>
          </p:cNvPr>
          <p:cNvSpPr txBox="1"/>
          <p:nvPr/>
        </p:nvSpPr>
        <p:spPr>
          <a:xfrm>
            <a:off x="488856" y="3686708"/>
            <a:ext cx="48592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de-AT" altLang="zh-CN" sz="2000" b="1" i="0" dirty="0">
                <a:effectLst/>
                <a:latin typeface="Segoe UI" panose="020B0502040204020203" pitchFamily="34" charset="0"/>
              </a:rPr>
              <a:t>Abgedeckte Statuscodes</a:t>
            </a:r>
          </a:p>
          <a:p>
            <a:pPr algn="l">
              <a:buNone/>
            </a:pPr>
            <a:r>
              <a:rPr lang="de-AT" altLang="zh-CN" sz="2000" b="0" i="0" dirty="0">
                <a:effectLst/>
                <a:latin typeface="Segoe UI" panose="020B0502040204020203" pitchFamily="34" charset="0"/>
              </a:rPr>
              <a:t>201 204 200 400 404 409 460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FFF921-005C-004C-99BB-216B0CCAB8F3}"/>
              </a:ext>
            </a:extLst>
          </p:cNvPr>
          <p:cNvSpPr/>
          <p:nvPr/>
        </p:nvSpPr>
        <p:spPr>
          <a:xfrm>
            <a:off x="8941716" y="1230394"/>
            <a:ext cx="2902810" cy="3395754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E7F77D-39EA-61BA-C486-34BD128B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716" y="1978705"/>
            <a:ext cx="2552921" cy="245385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7900DDE-6A1D-8F03-44D8-889D3CFFA4A1}"/>
              </a:ext>
            </a:extLst>
          </p:cNvPr>
          <p:cNvSpPr txBox="1"/>
          <p:nvPr/>
        </p:nvSpPr>
        <p:spPr>
          <a:xfrm>
            <a:off x="9016672" y="1396801"/>
            <a:ext cx="226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Test Request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2178881-8635-FF7A-0824-C4C2DD4601EE}"/>
              </a:ext>
            </a:extLst>
          </p:cNvPr>
          <p:cNvSpPr/>
          <p:nvPr/>
        </p:nvSpPr>
        <p:spPr>
          <a:xfrm>
            <a:off x="297424" y="4881983"/>
            <a:ext cx="11439306" cy="1842908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A86D4AB-9C86-4A02-4A19-E1F61B495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784" y="4905011"/>
            <a:ext cx="9114310" cy="162311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BD0F7BB-C042-57E5-A936-5822B72256F3}"/>
              </a:ext>
            </a:extLst>
          </p:cNvPr>
          <p:cNvSpPr txBox="1"/>
          <p:nvPr/>
        </p:nvSpPr>
        <p:spPr>
          <a:xfrm>
            <a:off x="488856" y="5041172"/>
            <a:ext cx="1167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Test Result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1FC1FE-A673-4631-BC0E-DB2DCDA320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03" y="257104"/>
            <a:ext cx="684958" cy="6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5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68146-D91D-C1DA-2E70-7B997F7D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A523852-412F-50B4-0C64-CF278113A5A9}"/>
              </a:ext>
            </a:extLst>
          </p:cNvPr>
          <p:cNvSpPr/>
          <p:nvPr/>
        </p:nvSpPr>
        <p:spPr>
          <a:xfrm>
            <a:off x="5025476" y="1185451"/>
            <a:ext cx="3031733" cy="5534807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4D7493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CABD6B-005E-256D-59D6-C174B39F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    Demonstration – Schritt-für-Schritt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F4618A-8446-BE4D-4A28-DE6F43B5CE48}"/>
              </a:ext>
            </a:extLst>
          </p:cNvPr>
          <p:cNvSpPr txBox="1"/>
          <p:nvPr/>
        </p:nvSpPr>
        <p:spPr>
          <a:xfrm>
            <a:off x="5119853" y="1185451"/>
            <a:ext cx="178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Postman Test</a:t>
            </a:r>
            <a:endParaRPr lang="zh-CN" alt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BAC299C-1DCC-0A87-CBB5-E55CBB5FA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254981"/>
            <a:ext cx="697804" cy="6978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AF282B-80C8-E028-AC9F-6B1A23C98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584" y="1185451"/>
            <a:ext cx="3698943" cy="546999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05A61FF-656B-A01E-D40B-508A5115C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26" y="1185451"/>
            <a:ext cx="4617003" cy="530214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30985A9-1783-4ABA-4C29-ED3309BBF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853" y="1717013"/>
            <a:ext cx="2848983" cy="29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1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2C5A-708B-8EC5-0977-FFFA94BB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143F6-61E9-48AA-847B-7D59B1A4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315"/>
            <a:ext cx="10515600" cy="1235075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Erkenntnisse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nächste</a:t>
            </a:r>
            <a:r>
              <a:rPr lang="en-US" altLang="zh-CN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b="1" dirty="0" err="1">
                <a:latin typeface="Segoe UI" panose="020B0502040204020203" pitchFamily="34" charset="0"/>
                <a:cs typeface="Segoe UI" panose="020B0502040204020203" pitchFamily="34" charset="0"/>
              </a:rPr>
              <a:t>Schritte</a:t>
            </a:r>
            <a:endParaRPr lang="zh-CN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543F210-EFB5-832C-F3DC-DA50A87C2E39}"/>
              </a:ext>
            </a:extLst>
          </p:cNvPr>
          <p:cNvSpPr/>
          <p:nvPr/>
        </p:nvSpPr>
        <p:spPr>
          <a:xfrm>
            <a:off x="347472" y="1257390"/>
            <a:ext cx="5586984" cy="3747237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4D7493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0FAC082-E25A-17A1-526A-B1B0BD5658E9}"/>
              </a:ext>
            </a:extLst>
          </p:cNvPr>
          <p:cNvSpPr/>
          <p:nvPr/>
        </p:nvSpPr>
        <p:spPr>
          <a:xfrm>
            <a:off x="6257546" y="1257390"/>
            <a:ext cx="5586984" cy="3747237"/>
          </a:xfrm>
          <a:prstGeom prst="roundRect">
            <a:avLst>
              <a:gd name="adj" fmla="val 6831"/>
            </a:avLst>
          </a:prstGeom>
          <a:solidFill>
            <a:srgbClr val="F8FA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462905A-2995-2C47-1798-B8AF8E077A2E}"/>
              </a:ext>
            </a:extLst>
          </p:cNvPr>
          <p:cNvSpPr/>
          <p:nvPr/>
        </p:nvSpPr>
        <p:spPr>
          <a:xfrm>
            <a:off x="499871" y="5665670"/>
            <a:ext cx="11142231" cy="769482"/>
          </a:xfrm>
          <a:prstGeom prst="roundRect">
            <a:avLst>
              <a:gd name="adj" fmla="val 6831"/>
            </a:avLst>
          </a:prstGeom>
          <a:solidFill>
            <a:srgbClr val="F1F5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430F11-5538-CFE3-EEAD-5742FFC20568}"/>
              </a:ext>
            </a:extLst>
          </p:cNvPr>
          <p:cNvSpPr txBox="1"/>
          <p:nvPr/>
        </p:nvSpPr>
        <p:spPr>
          <a:xfrm>
            <a:off x="499871" y="1587661"/>
            <a:ext cx="51419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Gelernte Prinzipien</a:t>
            </a:r>
          </a:p>
          <a:p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Ressourcenorientierte API-Design (nicht Aktion-orientiert)</a:t>
            </a:r>
          </a:p>
          <a:p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Schichtenarchitektur verbessert Testbarkeit massiv</a:t>
            </a:r>
          </a:p>
          <a:p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Streaming ist essenziell für große Dateien</a:t>
            </a:r>
          </a:p>
          <a:p>
            <a:r>
              <a:rPr lang="de-AT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Fehler-Kodierung nach HTTP-Standard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BC0E38-03F8-F5A1-F551-264580632B68}"/>
              </a:ext>
            </a:extLst>
          </p:cNvPr>
          <p:cNvSpPr txBox="1"/>
          <p:nvPr/>
        </p:nvSpPr>
        <p:spPr>
          <a:xfrm>
            <a:off x="6315958" y="1587661"/>
            <a:ext cx="53261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Ausbaufähig</a:t>
            </a:r>
            <a:r>
              <a:rPr lang="en-US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zh-CN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gemäß</a:t>
            </a:r>
            <a:r>
              <a:rPr lang="en-US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Spezifikation</a:t>
            </a:r>
            <a:r>
              <a:rPr lang="en-US" altLang="zh-C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Paralleler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Upload via Upload-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Concat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 (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Mehrfach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-PATCH 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gleichzeitig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Persistente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Metadaten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(PostgreSQL / Redis)</a:t>
            </a:r>
          </a:p>
          <a:p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Authentifizierung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&amp; Rate Limiting</a:t>
            </a:r>
          </a:p>
          <a:p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Cloud-Speicher (S3-kompatibel) 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als</a:t>
            </a:r>
            <a:r>
              <a:rPr lang="en-US" altLang="zh-C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FileStore</a:t>
            </a:r>
            <a:endParaRPr lang="en-US" altLang="zh-C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BB48D51-542E-0A6E-5384-8CCAA310E798}"/>
              </a:ext>
            </a:extLst>
          </p:cNvPr>
          <p:cNvSpPr txBox="1"/>
          <p:nvPr/>
        </p:nvSpPr>
        <p:spPr>
          <a:xfrm>
            <a:off x="1089289" y="5850356"/>
            <a:ext cx="10533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AT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 Das Projekt zeigt: Einfache APIs + saubere Schichten = wartbarer, erweiterbarer Upload-Service.</a:t>
            </a:r>
            <a:endParaRPr lang="zh-CN" alt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DE9CB0-4C5C-D9B9-77BB-F82F934AA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3" y="240462"/>
            <a:ext cx="731812" cy="73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3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6446-5E14-7AC7-24FC-CCAFDC8A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B3097-5893-9E72-0A73-5C9F73EBF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344" y="1122363"/>
            <a:ext cx="11983656" cy="2387600"/>
          </a:xfrm>
        </p:spPr>
        <p:txBody>
          <a:bodyPr>
            <a:normAutofit/>
          </a:bodyPr>
          <a:lstStyle/>
          <a:p>
            <a:r>
              <a:rPr lang="de-AT" altLang="zh-CN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Vielen Dank für Ihre Aufmerksamkeit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2554E3-3330-92E1-FC5F-844B18B56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2C7D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Fragen</a:t>
            </a:r>
            <a:r>
              <a:rPr lang="en-US" altLang="zh-CN" sz="3200" dirty="0">
                <a:solidFill>
                  <a:srgbClr val="2C7D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  <a:r>
              <a:rPr lang="en-US" altLang="zh-CN" sz="3200" dirty="0" err="1">
                <a:solidFill>
                  <a:srgbClr val="2C7D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Diskussion</a:t>
            </a:r>
            <a:r>
              <a:rPr lang="en-US" altLang="zh-CN" sz="3200" dirty="0">
                <a:solidFill>
                  <a:srgbClr val="2C7D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gerne!</a:t>
            </a:r>
            <a:endParaRPr lang="zh-CN" altLang="en-US" sz="4000" dirty="0">
              <a:solidFill>
                <a:srgbClr val="2C7D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B7057-E475-20EA-B10B-3912BBEE2E69}"/>
              </a:ext>
            </a:extLst>
          </p:cNvPr>
          <p:cNvSpPr txBox="1"/>
          <p:nvPr/>
        </p:nvSpPr>
        <p:spPr>
          <a:xfrm>
            <a:off x="1358097" y="4629445"/>
            <a:ext cx="10833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dirty="0"/>
              <a:t> Projekt verfügbar mit vollständiger Dokumentation (</a:t>
            </a:r>
            <a:r>
              <a:rPr lang="de-AT" altLang="zh-CN" dirty="0" err="1"/>
              <a:t>API_Protocol</a:t>
            </a:r>
            <a:r>
              <a:rPr lang="de-AT" altLang="zh-CN" dirty="0"/>
              <a:t>, Implementation, Technical Design)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A3D74E-F858-37AB-1031-DB80E1236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25" y="1030289"/>
            <a:ext cx="1739143" cy="13188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A7674C0-8C48-1FA9-5DF1-35049EBD6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10" y="4628488"/>
            <a:ext cx="468036" cy="46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34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608</Words>
  <Application>Microsoft Office PowerPoint</Application>
  <PresentationFormat>宽屏</PresentationFormat>
  <Paragraphs>109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Arial</vt:lpstr>
      <vt:lpstr>Calibri</vt:lpstr>
      <vt:lpstr>Courier New</vt:lpstr>
      <vt:lpstr>Font Awesome 7 Brands</vt:lpstr>
      <vt:lpstr>Segoe UI</vt:lpstr>
      <vt:lpstr>Office 主题​​</vt:lpstr>
      <vt:lpstr>Multipart File Upload Service</vt:lpstr>
      <vt:lpstr>     Warum diese Art von Service?</vt:lpstr>
      <vt:lpstr>     Genau diese 4 APIs</vt:lpstr>
      <vt:lpstr>     Layered Architecture</vt:lpstr>
      <vt:lpstr>     Project Structure</vt:lpstr>
      <vt:lpstr>    Technology-Stack – Entscheidungen &amp; Nutzen</vt:lpstr>
      <vt:lpstr>     Testmethoden &amp; Abdeckung</vt:lpstr>
      <vt:lpstr>     Demonstration – Schritt-für-Schritt</vt:lpstr>
      <vt:lpstr>     Erkenntnisse &amp; nächste Schritte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RONG</dc:creator>
  <cp:lastModifiedBy>Felix RONG</cp:lastModifiedBy>
  <cp:revision>3</cp:revision>
  <dcterms:created xsi:type="dcterms:W3CDTF">2026-05-11T09:30:20Z</dcterms:created>
  <dcterms:modified xsi:type="dcterms:W3CDTF">2026-05-23T08:22:55Z</dcterms:modified>
</cp:coreProperties>
</file>